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25"/>
  </p:notesMasterIdLst>
  <p:sldIdLst>
    <p:sldId id="266" r:id="rId5"/>
    <p:sldId id="267" r:id="rId6"/>
    <p:sldId id="268" r:id="rId7"/>
    <p:sldId id="269" r:id="rId8"/>
    <p:sldId id="270" r:id="rId9"/>
    <p:sldId id="271" r:id="rId10"/>
    <p:sldId id="272" r:id="rId11"/>
    <p:sldId id="282" r:id="rId12"/>
    <p:sldId id="273" r:id="rId13"/>
    <p:sldId id="274" r:id="rId14"/>
    <p:sldId id="275" r:id="rId15"/>
    <p:sldId id="286" r:id="rId16"/>
    <p:sldId id="277" r:id="rId17"/>
    <p:sldId id="278" r:id="rId18"/>
    <p:sldId id="283" r:id="rId19"/>
    <p:sldId id="284" r:id="rId20"/>
    <p:sldId id="281" r:id="rId21"/>
    <p:sldId id="279" r:id="rId22"/>
    <p:sldId id="280" r:id="rId23"/>
    <p:sldId id="28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allu405@gmail.com" userId="a477b086e9005676" providerId="LiveId" clId="{71602AA4-9998-48E0-A912-A06179C02A1A}"/>
    <pc:docChg chg="modSld">
      <pc:chgData name="aryaallu405@gmail.com" userId="a477b086e9005676" providerId="LiveId" clId="{71602AA4-9998-48E0-A912-A06179C02A1A}" dt="2026-04-21T03:56:11.108" v="1" actId="14100"/>
      <pc:docMkLst>
        <pc:docMk/>
      </pc:docMkLst>
      <pc:sldChg chg="modSp mod">
        <pc:chgData name="aryaallu405@gmail.com" userId="a477b086e9005676" providerId="LiveId" clId="{71602AA4-9998-48E0-A912-A06179C02A1A}" dt="2026-04-21T03:56:11.108" v="1" actId="14100"/>
        <pc:sldMkLst>
          <pc:docMk/>
          <pc:sldMk cId="2373550568" sldId="285"/>
        </pc:sldMkLst>
        <pc:spChg chg="mod">
          <ac:chgData name="aryaallu405@gmail.com" userId="a477b086e9005676" providerId="LiveId" clId="{71602AA4-9998-48E0-A912-A06179C02A1A}" dt="2026-04-21T03:56:11.108" v="1" actId="14100"/>
          <ac:spMkLst>
            <pc:docMk/>
            <pc:sldMk cId="2373550568" sldId="285"/>
            <ac:spMk id="2" creationId="{7BF358A6-85B5-5237-B793-39B7BA3586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96571-9954-4C8B-A5CF-DB026DBC3E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F4F75-ECC5-47F3-A631-CEAC51A242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8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9184DA70-C731-4C70-880D-CCD4705E623C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24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75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7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27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08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4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63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1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59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998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184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9203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5354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616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14161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116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47708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28894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2D6E202-B606-4609-B914-27C9371A1F6D}" type="datetime1">
              <a:rPr lang="en-US" smtClean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0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501445"/>
            <a:ext cx="4813072" cy="3632443"/>
          </a:xfrm>
        </p:spPr>
        <p:txBody>
          <a:bodyPr>
            <a:normAutofit fontScale="90000"/>
          </a:bodyPr>
          <a:lstStyle/>
          <a:p>
            <a:r>
              <a:rPr lang="en-US" sz="6700" dirty="0">
                <a:latin typeface="Algerian" panose="04020705040A02060702" pitchFamily="82" charset="0"/>
              </a:rPr>
              <a:t> heart </a:t>
            </a:r>
            <a:r>
              <a:rPr lang="en-US" sz="4400" dirty="0">
                <a:latin typeface="Algerian" panose="04020705040A02060702" pitchFamily="82" charset="0"/>
              </a:rPr>
              <a:t>disease Prediction using Patient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1510" y="4611329"/>
            <a:ext cx="4027590" cy="1465006"/>
          </a:xfrm>
        </p:spPr>
        <p:txBody>
          <a:bodyPr>
            <a:normAutofit fontScale="40000" lnSpcReduction="20000"/>
          </a:bodyPr>
          <a:lstStyle/>
          <a:p>
            <a:r>
              <a:rPr lang="en-IN" sz="4500" dirty="0">
                <a:latin typeface="Arial Black" panose="020B0A04020102020204" pitchFamily="34" charset="0"/>
              </a:rPr>
              <a:t> Team Members: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</a:t>
            </a:r>
            <a:r>
              <a:rPr lang="en-IN" sz="4500" dirty="0" err="1">
                <a:latin typeface="Arial Black" panose="020B0A04020102020204" pitchFamily="34" charset="0"/>
              </a:rPr>
              <a:t>Ashliya</a:t>
            </a:r>
            <a:r>
              <a:rPr lang="en-IN" sz="4500" dirty="0">
                <a:latin typeface="Arial Black" panose="020B0A04020102020204" pitchFamily="34" charset="0"/>
              </a:rPr>
              <a:t> M Riyaz 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Arya Mohan G </a:t>
            </a:r>
          </a:p>
          <a:p>
            <a:r>
              <a:rPr lang="en-IN" sz="4500" dirty="0">
                <a:latin typeface="Arial Black" panose="020B0A04020102020204" pitchFamily="34" charset="0"/>
              </a:rPr>
              <a:t>                Aiswarya 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C4DF-8859-F13D-43DA-7358C11F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PROJECT OVERVIEW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E2E198-FE18-13C1-8411-731BD3867E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0" y="2951827"/>
            <a:ext cx="824135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Heart disease is a leading cause of death worldwide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Early detection can save lives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Machine Learning helps in accurate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Goal: Build a predictive and decision-support system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A6962-52E1-3C44-D869-65E9DF6A8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3645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2031-C4B3-D271-A12C-FE2754CB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OBJECTIVES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32F52D-C0AD-02B2-7960-6EC7F1CE75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650639"/>
            <a:ext cx="8047396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patient health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risk factors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presence of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an interactive dashboard for user </a:t>
            </a:r>
          </a:p>
        </p:txBody>
      </p:sp>
    </p:spTree>
    <p:extLst>
      <p:ext uri="{BB962C8B-B14F-4D97-AF65-F5344CB8AC3E}">
        <p14:creationId xmlns:p14="http://schemas.microsoft.com/office/powerpoint/2010/main" val="311756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AEF6-9977-E501-EB9B-8A5FF848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65634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DATASET DESCRIPTION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EFDE41-48DA-5298-E910-EBB6F76D0B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518073"/>
            <a:ext cx="5727850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Cleveland Heart Disease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297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features: 13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→ No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→ Disease present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163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1757-8F4C-8DD7-7259-4C9AD7315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KEY FEATURES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6FD7B-A021-B1B2-7A42-6D4E7E02A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244686"/>
            <a:ext cx="505997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&amp; Gender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Chest Pain Type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Pressure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Cholesterol Level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Maximum Heart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Exercise Induced Angina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Slope, CA, Thal </a:t>
            </a:r>
          </a:p>
        </p:txBody>
      </p:sp>
    </p:spTree>
    <p:extLst>
      <p:ext uri="{BB962C8B-B14F-4D97-AF65-F5344CB8AC3E}">
        <p14:creationId xmlns:p14="http://schemas.microsoft.com/office/powerpoint/2010/main" val="3847495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CA42D-67BE-55A1-345D-D40001B3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PROBLEM STATEMENT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E7330F-E005-9F88-9AF1-77DE646637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436967"/>
            <a:ext cx="832150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whether a patient has heart disease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clinical data for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early diagnosis accuracy </a:t>
            </a:r>
          </a:p>
        </p:txBody>
      </p:sp>
    </p:spTree>
    <p:extLst>
      <p:ext uri="{BB962C8B-B14F-4D97-AF65-F5344CB8AC3E}">
        <p14:creationId xmlns:p14="http://schemas.microsoft.com/office/powerpoint/2010/main" val="1387528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B5FD-60D3-8584-9661-837E9CFC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20716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DATA PREPROCESSING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5AC457-2930-35FE-DB8A-11ADA4B3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62159"/>
            <a:ext cx="807304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and inconsistent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formatting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scaling applied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dataset for modeling </a:t>
            </a:r>
          </a:p>
        </p:txBody>
      </p:sp>
    </p:spTree>
    <p:extLst>
      <p:ext uri="{BB962C8B-B14F-4D97-AF65-F5344CB8AC3E}">
        <p14:creationId xmlns:p14="http://schemas.microsoft.com/office/powerpoint/2010/main" val="2570716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B89D-2CBD-2490-665D-4732D69A8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799"/>
            <a:ext cx="10018711" cy="982579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CLEANED  DATA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3FC25-55BA-78C0-1D6B-B23B89CD9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069432"/>
            <a:ext cx="10018713" cy="3721768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A6A38-7B53-1C37-40A1-C0C4B8B3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441" y="2271551"/>
            <a:ext cx="8183117" cy="34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08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FCE1-FA59-B6F5-22BB-E9E7301D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EXPLORATORY DATA ANALYSIS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1E963-202A-FBAE-8259-84320FEA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08940"/>
            <a:ext cx="804899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Studied feature distributions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patterns and trends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heatmap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Observed relationships between variables </a:t>
            </a:r>
          </a:p>
        </p:txBody>
      </p:sp>
    </p:spTree>
    <p:extLst>
      <p:ext uri="{BB962C8B-B14F-4D97-AF65-F5344CB8AC3E}">
        <p14:creationId xmlns:p14="http://schemas.microsoft.com/office/powerpoint/2010/main" val="2195908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2272-62B5-2FB3-C069-A5064A9F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FEATURE SELECTION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D43A17-4CF7-3076-3995-242E88E55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85730"/>
            <a:ext cx="6454011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Mutual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Chi-Square Test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most important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model complexity </a:t>
            </a:r>
          </a:p>
        </p:txBody>
      </p:sp>
    </p:spTree>
    <p:extLst>
      <p:ext uri="{BB962C8B-B14F-4D97-AF65-F5344CB8AC3E}">
        <p14:creationId xmlns:p14="http://schemas.microsoft.com/office/powerpoint/2010/main" val="370245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1D70-E6B7-979D-8523-78B2DA6B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MACHINE LEARNING MODEL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A7A66F-C6E2-C694-A216-70F68F0DC6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81774"/>
            <a:ext cx="552266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K-Nearest Neighbors (KNN)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 Boosting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multiple models </a:t>
            </a:r>
          </a:p>
        </p:txBody>
      </p:sp>
    </p:spTree>
    <p:extLst>
      <p:ext uri="{BB962C8B-B14F-4D97-AF65-F5344CB8AC3E}">
        <p14:creationId xmlns:p14="http://schemas.microsoft.com/office/powerpoint/2010/main" val="283111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76B7-D32A-D342-7232-272EFDCBE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089848"/>
          </a:xfrm>
        </p:spPr>
        <p:txBody>
          <a:bodyPr/>
          <a:lstStyle/>
          <a:p>
            <a:r>
              <a:rPr lang="en-US" dirty="0"/>
              <a:t>MODEL EVALUATION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30F76-599F-3A84-9C9F-2D898378C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2949677"/>
            <a:ext cx="8825659" cy="3070123"/>
          </a:xfrm>
        </p:spPr>
        <p:txBody>
          <a:bodyPr>
            <a:normAutofit/>
          </a:bodyPr>
          <a:lstStyle/>
          <a:p>
            <a:r>
              <a:rPr lang="en-IN" sz="3200" dirty="0"/>
              <a:t>Accuracy </a:t>
            </a:r>
            <a:endParaRPr lang="en-IN" sz="2400" dirty="0">
              <a:latin typeface=" calibri"/>
            </a:endParaRPr>
          </a:p>
          <a:p>
            <a:r>
              <a:rPr lang="en-IN" sz="3200" dirty="0"/>
              <a:t>Precision</a:t>
            </a:r>
          </a:p>
          <a:p>
            <a:r>
              <a:rPr lang="en-IN" sz="3200" dirty="0"/>
              <a:t>Recall</a:t>
            </a:r>
          </a:p>
          <a:p>
            <a:r>
              <a:rPr lang="en-IN" sz="3200" dirty="0"/>
              <a:t>F1-Score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12219-9B92-0A17-CC09-2EF960A81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85" y="3284057"/>
            <a:ext cx="6335009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906DB-0D19-6AE5-0324-0177DBBA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7883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RESULTS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EBBA51-F200-379F-4B7E-4686E81D9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747198"/>
            <a:ext cx="736611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performed best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accuracy and interpretability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Selected as final model </a:t>
            </a:r>
          </a:p>
        </p:txBody>
      </p:sp>
    </p:spTree>
    <p:extLst>
      <p:ext uri="{BB962C8B-B14F-4D97-AF65-F5344CB8AC3E}">
        <p14:creationId xmlns:p14="http://schemas.microsoft.com/office/powerpoint/2010/main" val="54880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A30F0-1B46-10D7-4071-7C5BC3FD3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MODEL DEPLOYMENT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136F2-8674-9173-D1C0-7BAB9541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326105"/>
            <a:ext cx="10018713" cy="3465095"/>
          </a:xfrm>
        </p:spPr>
        <p:txBody>
          <a:bodyPr>
            <a:normAutofit/>
          </a:bodyPr>
          <a:lstStyle/>
          <a:p>
            <a:r>
              <a:rPr lang="en-US" sz="2800" dirty="0"/>
              <a:t>Model saved and integrated </a:t>
            </a:r>
          </a:p>
          <a:p>
            <a:r>
              <a:rPr lang="en-US" sz="2800" dirty="0"/>
              <a:t>Built using </a:t>
            </a:r>
            <a:r>
              <a:rPr lang="en-US" sz="2800" dirty="0" err="1"/>
              <a:t>Streamlit</a:t>
            </a:r>
            <a:r>
              <a:rPr lang="en-US" sz="2800" dirty="0"/>
              <a:t> </a:t>
            </a:r>
          </a:p>
          <a:p>
            <a:r>
              <a:rPr lang="en-US" sz="2800" dirty="0"/>
              <a:t>User-friendly interface </a:t>
            </a:r>
          </a:p>
          <a:p>
            <a:r>
              <a:rPr lang="en-US" sz="2800" dirty="0"/>
              <a:t>Real-time predictions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7860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5AD0-F526-20BE-DFCB-95F75715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030705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APP INTERFACE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3ACEA-D291-6170-966E-E46959CA6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165684"/>
            <a:ext cx="10018713" cy="362551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8DFCF1-5FE9-E08E-E1E5-399857C27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5" y="2330245"/>
            <a:ext cx="8694820" cy="471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99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483F-FC5A-6D10-3C33-F7B8FF1B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978568"/>
            <a:ext cx="10018711" cy="3112168"/>
          </a:xfrm>
        </p:spPr>
        <p:txBody>
          <a:bodyPr/>
          <a:lstStyle/>
          <a:p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br>
              <a:rPr lang="en-US" dirty="0">
                <a:latin typeface="Algerian" panose="04020705040A02060702" pitchFamily="82" charset="0"/>
              </a:rPr>
            </a:br>
            <a:r>
              <a:rPr lang="en-US" dirty="0">
                <a:latin typeface="Algerian" panose="04020705040A02060702" pitchFamily="82" charset="0"/>
              </a:rPr>
              <a:t>WORKFLOW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8BC41-F3A1-8E52-A11A-E5C9FB2FD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2212258"/>
            <a:ext cx="10018713" cy="4525426"/>
          </a:xfrm>
        </p:spPr>
        <p:txBody>
          <a:bodyPr>
            <a:noAutofit/>
          </a:bodyPr>
          <a:lstStyle/>
          <a:p>
            <a:r>
              <a:rPr lang="en-IN" sz="3200" dirty="0"/>
              <a:t>Data Collection → Data Cleaning → Preprocessing → EDA →</a:t>
            </a:r>
          </a:p>
          <a:p>
            <a:r>
              <a:rPr lang="en-IN" sz="3200" dirty="0"/>
              <a:t>Feature Selection → Model Training → Model Evaluation →</a:t>
            </a:r>
          </a:p>
          <a:p>
            <a:r>
              <a:rPr lang="en-IN" sz="3200" dirty="0"/>
              <a:t>Model Selection → Model Saving → Deployment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224371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6071-7598-5F61-EADA-67DD438E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2089484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4E3C6-9D1F-7CDA-920A-33F7A04F8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005802"/>
            <a:ext cx="798007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can aid early diagnosis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 gave reliable results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helps in clinical decision support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with more data </a:t>
            </a:r>
          </a:p>
        </p:txBody>
      </p:sp>
    </p:spTree>
    <p:extLst>
      <p:ext uri="{BB962C8B-B14F-4D97-AF65-F5344CB8AC3E}">
        <p14:creationId xmlns:p14="http://schemas.microsoft.com/office/powerpoint/2010/main" val="1936102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CCDE0-483A-FECB-A4B8-5B6A932AE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828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FUTURE SCOPE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9EE9E-4AD0-AD0F-73A8-7EDB2A620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2997865"/>
            <a:ext cx="711444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larger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accuracy with deep learning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hospital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real-time patient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707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759E3-DFB3-816C-6AFF-A29F517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1447800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LIVE APPLICATION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084AF-EEBA-8F89-821E-3BA0EC884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84313" y="3132167"/>
            <a:ext cx="6729727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 application available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heart disease instantly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use interface </a:t>
            </a:r>
          </a:p>
        </p:txBody>
      </p:sp>
    </p:spTree>
    <p:extLst>
      <p:ext uri="{BB962C8B-B14F-4D97-AF65-F5344CB8AC3E}">
        <p14:creationId xmlns:p14="http://schemas.microsoft.com/office/powerpoint/2010/main" val="3554657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58A6-85B5-5237-B793-39B7BA358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0" y="530942"/>
            <a:ext cx="7235824" cy="212376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THANKYOU….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5505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102</TotalTime>
  <Words>334</Words>
  <Application>Microsoft Office PowerPoint</Application>
  <PresentationFormat>Widescreen</PresentationFormat>
  <Paragraphs>103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 calibri</vt:lpstr>
      <vt:lpstr>Algerian</vt:lpstr>
      <vt:lpstr>Arial</vt:lpstr>
      <vt:lpstr>Arial Black</vt:lpstr>
      <vt:lpstr>Arial Narrow</vt:lpstr>
      <vt:lpstr>Calibri</vt:lpstr>
      <vt:lpstr>Century Gothic</vt:lpstr>
      <vt:lpstr>Wingdings 3</vt:lpstr>
      <vt:lpstr>Ion Boardroom</vt:lpstr>
      <vt:lpstr> heart disease Prediction using Patient Data</vt:lpstr>
      <vt:lpstr>PROJECT OVERVIEW</vt:lpstr>
      <vt:lpstr>OBJECTIVES</vt:lpstr>
      <vt:lpstr>DATASET DESCRIPTION</vt:lpstr>
      <vt:lpstr>KEY FEATURES</vt:lpstr>
      <vt:lpstr>PROBLEM STATEMENT</vt:lpstr>
      <vt:lpstr>DATA PREPROCESSING</vt:lpstr>
      <vt:lpstr>CLEANED  DATA</vt:lpstr>
      <vt:lpstr>EXPLORATORY DATA ANALYSIS</vt:lpstr>
      <vt:lpstr>FEATURE SELECTION</vt:lpstr>
      <vt:lpstr>MACHINE LEARNING MODEL</vt:lpstr>
      <vt:lpstr>MODEL EVALUATION</vt:lpstr>
      <vt:lpstr>RESULTS</vt:lpstr>
      <vt:lpstr>MODEL DEPLOYMENT</vt:lpstr>
      <vt:lpstr>APP INTERFACE</vt:lpstr>
      <vt:lpstr>    WORKFLOW</vt:lpstr>
      <vt:lpstr>CONCLUSION</vt:lpstr>
      <vt:lpstr>FUTURE SCOPE</vt:lpstr>
      <vt:lpstr>LIVE APPLICATION</vt:lpstr>
      <vt:lpstr>THANKYOU….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aryaallu405@gmail.com</dc:creator>
  <cp:lastModifiedBy>ASHLIYA M RIYAZ</cp:lastModifiedBy>
  <cp:revision>5</cp:revision>
  <dcterms:created xsi:type="dcterms:W3CDTF">2026-04-20T13:53:58Z</dcterms:created>
  <dcterms:modified xsi:type="dcterms:W3CDTF">2026-04-21T07:09:18Z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